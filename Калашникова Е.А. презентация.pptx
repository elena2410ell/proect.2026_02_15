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61" r:id="rId4"/>
    <p:sldId id="272" r:id="rId5"/>
    <p:sldId id="269" r:id="rId6"/>
    <p:sldId id="273" r:id="rId7"/>
    <p:sldId id="275" r:id="rId8"/>
    <p:sldId id="276" r:id="rId9"/>
    <p:sldId id="274" r:id="rId10"/>
    <p:sldId id="278" r:id="rId11"/>
    <p:sldId id="280" r:id="rId12"/>
    <p:sldId id="279" r:id="rId13"/>
    <p:sldId id="281" r:id="rId14"/>
    <p:sldId id="283" r:id="rId15"/>
    <p:sldId id="284" r:id="rId16"/>
    <p:sldId id="277" r:id="rId17"/>
    <p:sldId id="260" r:id="rId18"/>
  </p:sldIdLst>
  <p:sldSz cx="12192000" cy="6858000"/>
  <p:notesSz cx="6858000" cy="9144000"/>
  <p:embeddedFontLs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CAB"/>
    <a:srgbClr val="0046A2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58" d="100"/>
          <a:sy n="58" d="100"/>
        </p:scale>
        <p:origin x="64" y="120"/>
      </p:cViewPr>
      <p:guideLst>
        <p:guide pos="347"/>
        <p:guide orient="horz" pos="1344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449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дзаголовок и Сравнение" userDrawn="1">
  <p:cSld name="Подзаголовок и Сравнение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17">
            <a:extLst>
              <a:ext uri="{FF2B5EF4-FFF2-40B4-BE49-F238E27FC236}">
                <a16:creationId xmlns:a16="http://schemas.microsoft.com/office/drawing/2014/main" id="{A3BCCEBD-8EA8-458F-9BC3-430C03DA2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63245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  <p:sp>
        <p:nvSpPr>
          <p:cNvPr id="8" name="Google Shape;47;p11">
            <a:extLst>
              <a:ext uri="{FF2B5EF4-FFF2-40B4-BE49-F238E27FC236}">
                <a16:creationId xmlns:a16="http://schemas.microsoft.com/office/drawing/2014/main" id="{BE73FDE2-AD6D-4536-979A-DFD5A5A120FB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558781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9" name="Google Shape;48;p11">
            <a:extLst>
              <a:ext uri="{FF2B5EF4-FFF2-40B4-BE49-F238E27FC236}">
                <a16:creationId xmlns:a16="http://schemas.microsoft.com/office/drawing/2014/main" id="{CDC7DB9F-D126-4C0F-900F-3ED455B7D4B6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6241899" y="1770664"/>
            <a:ext cx="5508000" cy="450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30;p8">
            <a:extLst>
              <a:ext uri="{FF2B5EF4-FFF2-40B4-BE49-F238E27FC236}">
                <a16:creationId xmlns:a16="http://schemas.microsoft.com/office/drawing/2014/main" id="{0A0C615F-D144-44C1-91C6-0FB98026FAD0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Подзаголовок слайда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7" r:id="rId3"/>
    <p:sldLayoutId id="2147483658" r:id="rId4"/>
    <p:sldLayoutId id="2147483659" r:id="rId5"/>
    <p:sldLayoutId id="2147483661" r:id="rId6"/>
    <p:sldLayoutId id="2147483660" r:id="rId7"/>
    <p:sldLayoutId id="2147483662" r:id="rId8"/>
    <p:sldLayoutId id="2147483651" r:id="rId9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курсу «Data Science Pro»</a:t>
            </a: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 конечных свойств новых материалов (композиционных материалов)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286" y="4363658"/>
            <a:ext cx="9119010" cy="87416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Калашникова Елена Александровна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3167881" y="469293"/>
            <a:ext cx="3835398" cy="666000"/>
            <a:chOff x="1476754" y="3499669"/>
            <a:chExt cx="4619247" cy="666000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4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Содержание</a:t>
              </a:r>
              <a:endParaRPr lang="ru-RU" sz="32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60669A83-F90E-4A4C-BA00-13CC73D4042F}"/>
              </a:ext>
            </a:extLst>
          </p:cNvPr>
          <p:cNvSpPr/>
          <p:nvPr/>
        </p:nvSpPr>
        <p:spPr>
          <a:xfrm>
            <a:off x="1408143" y="1719562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Разведочный анализ данных</a:t>
            </a:r>
            <a:endParaRPr sz="1600" dirty="0">
              <a:solidFill>
                <a:srgbClr val="262626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66B2AF8-B3BB-4E6C-B4EF-BA91A7149C6E}"/>
              </a:ext>
            </a:extLst>
          </p:cNvPr>
          <p:cNvGrpSpPr/>
          <p:nvPr/>
        </p:nvGrpSpPr>
        <p:grpSpPr>
          <a:xfrm>
            <a:off x="558782" y="2489251"/>
            <a:ext cx="450202" cy="685765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1F8772-5670-475E-90AF-084D02A24E45}"/>
              </a:ext>
            </a:extLst>
          </p:cNvPr>
          <p:cNvGrpSpPr/>
          <p:nvPr/>
        </p:nvGrpSpPr>
        <p:grpSpPr>
          <a:xfrm>
            <a:off x="558782" y="3443265"/>
            <a:ext cx="450202" cy="685765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0740F-EFCD-41F2-8EB0-E752773D0AE6}"/>
              </a:ext>
            </a:extLst>
          </p:cNvPr>
          <p:cNvGrpSpPr/>
          <p:nvPr/>
        </p:nvGrpSpPr>
        <p:grpSpPr>
          <a:xfrm>
            <a:off x="560162" y="4407979"/>
            <a:ext cx="450202" cy="685765"/>
            <a:chOff x="623996" y="1592262"/>
            <a:chExt cx="333947" cy="508681"/>
          </a:xfrm>
        </p:grpSpPr>
        <p:cxnSp>
          <p:nvCxnSpPr>
            <p:cNvPr id="45" name="Google Shape;123;p4">
              <a:extLst>
                <a:ext uri="{FF2B5EF4-FFF2-40B4-BE49-F238E27FC236}">
                  <a16:creationId xmlns:a16="http://schemas.microsoft.com/office/drawing/2014/main" id="{5C8D2F6A-BB2A-49FD-B94C-250EB763B06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>
              <a:extLst>
                <a:ext uri="{FF2B5EF4-FFF2-40B4-BE49-F238E27FC236}">
                  <a16:creationId xmlns:a16="http://schemas.microsoft.com/office/drawing/2014/main" id="{EB043BAB-1826-41DB-A7FE-AAA09C039F9C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>
              <a:extLst>
                <a:ext uri="{FF2B5EF4-FFF2-40B4-BE49-F238E27FC236}">
                  <a16:creationId xmlns:a16="http://schemas.microsoft.com/office/drawing/2014/main" id="{24ECB75A-09F9-43A5-8D25-D348344E60BF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1DE16C2-2172-463A-93BA-EA11B2417C83}"/>
              </a:ext>
            </a:extLst>
          </p:cNvPr>
          <p:cNvGrpSpPr/>
          <p:nvPr/>
        </p:nvGrpSpPr>
        <p:grpSpPr>
          <a:xfrm>
            <a:off x="558782" y="5383393"/>
            <a:ext cx="450202" cy="685765"/>
            <a:chOff x="623996" y="1592262"/>
            <a:chExt cx="333947" cy="508681"/>
          </a:xfrm>
        </p:grpSpPr>
        <p:cxnSp>
          <p:nvCxnSpPr>
            <p:cNvPr id="49" name="Google Shape;123;p4">
              <a:extLst>
                <a:ext uri="{FF2B5EF4-FFF2-40B4-BE49-F238E27FC236}">
                  <a16:creationId xmlns:a16="http://schemas.microsoft.com/office/drawing/2014/main" id="{73882629-1BAE-438B-9802-2EDD583F7F1E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0" name="Google Shape;124;p4">
              <a:extLst>
                <a:ext uri="{FF2B5EF4-FFF2-40B4-BE49-F238E27FC236}">
                  <a16:creationId xmlns:a16="http://schemas.microsoft.com/office/drawing/2014/main" id="{590F5074-56E7-4E5F-A651-A7E31BD5FFB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1" name="Google Shape;126;p4">
              <a:extLst>
                <a:ext uri="{FF2B5EF4-FFF2-40B4-BE49-F238E27FC236}">
                  <a16:creationId xmlns:a16="http://schemas.microsoft.com/office/drawing/2014/main" id="{A2CA7045-D48F-4328-8FF7-FF8E4D8ABC1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id="{B392D556-B476-4E1F-958C-31EE7B16300D}"/>
              </a:ext>
            </a:extLst>
          </p:cNvPr>
          <p:cNvSpPr/>
          <p:nvPr/>
        </p:nvSpPr>
        <p:spPr>
          <a:xfrm>
            <a:off x="1408143" y="2658429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Обучение моделей</a:t>
            </a:r>
            <a:endParaRPr lang="ru-RU" sz="1600" dirty="0">
              <a:solidFill>
                <a:srgbClr val="262626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id="{BCF65B5B-0337-4C73-B9BB-A05F6916D064}"/>
              </a:ext>
            </a:extLst>
          </p:cNvPr>
          <p:cNvSpPr/>
          <p:nvPr/>
        </p:nvSpPr>
        <p:spPr>
          <a:xfrm>
            <a:off x="843937" y="2739873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id="{4BBDCECC-7AC6-4E39-B4A9-A7C1308CD1E4}"/>
              </a:ext>
            </a:extLst>
          </p:cNvPr>
          <p:cNvSpPr/>
          <p:nvPr/>
        </p:nvSpPr>
        <p:spPr>
          <a:xfrm>
            <a:off x="1408143" y="3616890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Тестирование моделей</a:t>
            </a:r>
            <a:endParaRPr lang="ru-RU" sz="1600" dirty="0">
              <a:solidFill>
                <a:srgbClr val="262626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id="{09A3BA78-83A5-439F-80AC-98893E52CA81}"/>
              </a:ext>
            </a:extLst>
          </p:cNvPr>
          <p:cNvSpPr/>
          <p:nvPr/>
        </p:nvSpPr>
        <p:spPr>
          <a:xfrm>
            <a:off x="843937" y="370971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25;p4">
            <a:extLst>
              <a:ext uri="{FF2B5EF4-FFF2-40B4-BE49-F238E27FC236}">
                <a16:creationId xmlns:a16="http://schemas.microsoft.com/office/drawing/2014/main" id="{3DDF0676-49DA-46BC-9B49-E63651936BD7}"/>
              </a:ext>
            </a:extLst>
          </p:cNvPr>
          <p:cNvSpPr/>
          <p:nvPr/>
        </p:nvSpPr>
        <p:spPr>
          <a:xfrm>
            <a:off x="1408143" y="4587172"/>
            <a:ext cx="621790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Нейронная сеть по рекомендации соотношения матрица-наполнитель </a:t>
            </a:r>
            <a:endParaRPr lang="ru-RU" sz="1600" dirty="0">
              <a:solidFill>
                <a:srgbClr val="262626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7" name="Google Shape;127;p4">
            <a:extLst>
              <a:ext uri="{FF2B5EF4-FFF2-40B4-BE49-F238E27FC236}">
                <a16:creationId xmlns:a16="http://schemas.microsoft.com/office/drawing/2014/main" id="{52BA7844-74CD-4A10-A920-4E6A0D827A2C}"/>
              </a:ext>
            </a:extLst>
          </p:cNvPr>
          <p:cNvSpPr/>
          <p:nvPr/>
        </p:nvSpPr>
        <p:spPr>
          <a:xfrm>
            <a:off x="843937" y="4677149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4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8" name="Google Shape;125;p4">
            <a:extLst>
              <a:ext uri="{FF2B5EF4-FFF2-40B4-BE49-F238E27FC236}">
                <a16:creationId xmlns:a16="http://schemas.microsoft.com/office/drawing/2014/main" id="{5196AA80-638D-487F-983B-0DA60BA9BE05}"/>
              </a:ext>
            </a:extLst>
          </p:cNvPr>
          <p:cNvSpPr/>
          <p:nvPr/>
        </p:nvSpPr>
        <p:spPr>
          <a:xfrm>
            <a:off x="1382780" y="5557018"/>
            <a:ext cx="621790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262626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Разработка приложения</a:t>
            </a:r>
            <a:endParaRPr lang="ru-RU" sz="1600" dirty="0">
              <a:solidFill>
                <a:srgbClr val="262626"/>
              </a:solidFill>
              <a:latin typeface="Times New Roman" panose="02020603050405020304" pitchFamily="18" charset="0"/>
              <a:ea typeface="Open Sans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9" name="Google Shape;127;p4">
            <a:extLst>
              <a:ext uri="{FF2B5EF4-FFF2-40B4-BE49-F238E27FC236}">
                <a16:creationId xmlns:a16="http://schemas.microsoft.com/office/drawing/2014/main" id="{6CBDF430-C68B-42FA-BC4A-87935642BB35}"/>
              </a:ext>
            </a:extLst>
          </p:cNvPr>
          <p:cNvSpPr/>
          <p:nvPr/>
        </p:nvSpPr>
        <p:spPr>
          <a:xfrm>
            <a:off x="836823" y="5618307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5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EB208F7-621F-4826-AC02-D9ACF56C2556}"/>
              </a:ext>
            </a:extLst>
          </p:cNvPr>
          <p:cNvGrpSpPr/>
          <p:nvPr/>
        </p:nvGrpSpPr>
        <p:grpSpPr>
          <a:xfrm>
            <a:off x="558782" y="1503622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id="{52F47E68-BBBA-4D50-92F9-0A84552519B8}"/>
              </a:ext>
            </a:extLst>
          </p:cNvPr>
          <p:cNvSpPr/>
          <p:nvPr/>
        </p:nvSpPr>
        <p:spPr>
          <a:xfrm>
            <a:off x="843937" y="1754244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167880" y="469293"/>
            <a:ext cx="5671320" cy="666000"/>
            <a:chOff x="1476753" y="3499669"/>
            <a:chExt cx="6830381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6830381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32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Анализ исходного </a:t>
              </a:r>
              <a:r>
                <a:rPr lang="ru-RU" sz="3200" spc="180" dirty="0" err="1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датасета</a:t>
              </a:r>
              <a:endParaRPr lang="ru-RU" sz="32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8195844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106C61F-3AF3-4C57-8D7B-F513D11827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31544" y="1193012"/>
            <a:ext cx="9855340" cy="27378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0E2D64F-5340-40C8-A4EB-96297A3518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31543" y="3930869"/>
            <a:ext cx="9855340" cy="277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334502" y="473399"/>
            <a:ext cx="6799316" cy="666000"/>
            <a:chOff x="1476753" y="3499669"/>
            <a:chExt cx="8188908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7792416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Анализ распределения переменных и выбросов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9575612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4C4378-3623-4C95-A1B2-806536C8C4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015" y="1412666"/>
            <a:ext cx="5676900" cy="4305935"/>
          </a:xfrm>
          <a:prstGeom prst="rect">
            <a:avLst/>
          </a:prstGeom>
        </p:spPr>
      </p:pic>
      <p:sp>
        <p:nvSpPr>
          <p:cNvPr id="12" name="Google Shape;210;p9">
            <a:extLst>
              <a:ext uri="{FF2B5EF4-FFF2-40B4-BE49-F238E27FC236}">
                <a16:creationId xmlns:a16="http://schemas.microsoft.com/office/drawing/2014/main" id="{CFAF0D7B-542D-444F-BEBF-405ED3F35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9090" y="5777355"/>
            <a:ext cx="5470825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Гистограммы распределения переменных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76A765E-B3A7-411E-B5B4-733325D63D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22087" y="1412666"/>
            <a:ext cx="5676898" cy="4305934"/>
          </a:xfrm>
          <a:prstGeom prst="rect">
            <a:avLst/>
          </a:prstGeom>
        </p:spPr>
      </p:pic>
      <p:sp>
        <p:nvSpPr>
          <p:cNvPr id="15" name="Google Shape;210;p9">
            <a:extLst>
              <a:ext uri="{FF2B5EF4-FFF2-40B4-BE49-F238E27FC236}">
                <a16:creationId xmlns:a16="http://schemas.microsoft.com/office/drawing/2014/main" id="{212FE8E2-8451-4F8D-B0A2-B59D8E261F14}"/>
              </a:ext>
            </a:extLst>
          </p:cNvPr>
          <p:cNvSpPr txBox="1">
            <a:spLocks/>
          </p:cNvSpPr>
          <p:nvPr/>
        </p:nvSpPr>
        <p:spPr>
          <a:xfrm>
            <a:off x="6521670" y="5718600"/>
            <a:ext cx="5470825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 b="0" i="0" u="none" strike="noStrike" cap="none" baseline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888888"/>
              </a:buClr>
              <a:buSzPts val="1600"/>
              <a:buFont typeface="Noto Sans Symbols"/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Диаграммы «ящик с усами»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324A62E-A256-4354-8835-CFA3C09136B2}"/>
              </a:ext>
            </a:extLst>
          </p:cNvPr>
          <p:cNvGrpSpPr/>
          <p:nvPr/>
        </p:nvGrpSpPr>
        <p:grpSpPr>
          <a:xfrm>
            <a:off x="3167881" y="469293"/>
            <a:ext cx="8123619" cy="666000"/>
            <a:chOff x="1476754" y="3499669"/>
            <a:chExt cx="9783861" cy="66600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589737A-BA23-46A0-A36B-BE16171D8E61}"/>
                </a:ext>
              </a:extLst>
            </p:cNvPr>
            <p:cNvSpPr/>
            <p:nvPr/>
          </p:nvSpPr>
          <p:spPr>
            <a:xfrm>
              <a:off x="1699910" y="3499669"/>
              <a:ext cx="9324078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Выявление зависимостей между целевыми переменными и признаками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Прямоугольник 58">
              <a:extLst>
                <a:ext uri="{FF2B5EF4-FFF2-40B4-BE49-F238E27FC236}">
                  <a16:creationId xmlns:a16="http://schemas.microsoft.com/office/drawing/2014/main" id="{1C3517E3-F6E0-4F52-AEE5-DC80364E562C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7" name="Прямоугольник 58">
              <a:extLst>
                <a:ext uri="{FF2B5EF4-FFF2-40B4-BE49-F238E27FC236}">
                  <a16:creationId xmlns:a16="http://schemas.microsoft.com/office/drawing/2014/main" id="{CEC88DFA-D330-4EAE-893E-A44623A39FD6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17056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7B02DE2-1149-449D-A9B4-ECD8AFE95C6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8" y="1396594"/>
            <a:ext cx="5238115" cy="4211955"/>
          </a:xfrm>
          <a:prstGeom prst="rect">
            <a:avLst/>
          </a:prstGeom>
          <a:noFill/>
        </p:spPr>
      </p:pic>
      <p:sp>
        <p:nvSpPr>
          <p:cNvPr id="19" name="Google Shape;210;p9">
            <a:extLst>
              <a:ext uri="{FF2B5EF4-FFF2-40B4-BE49-F238E27FC236}">
                <a16:creationId xmlns:a16="http://schemas.microsoft.com/office/drawing/2014/main" id="{B6C5FC03-2F0F-4126-9771-BB1A1D158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32468" y="5706893"/>
            <a:ext cx="5470825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Тепловая карта корреляции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3F37E31-2959-4E09-A013-BF6E598104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36763" y="1396594"/>
            <a:ext cx="5067935" cy="3959860"/>
          </a:xfrm>
          <a:prstGeom prst="rect">
            <a:avLst/>
          </a:prstGeom>
        </p:spPr>
      </p:pic>
      <p:sp>
        <p:nvSpPr>
          <p:cNvPr id="21" name="Google Shape;210;p9">
            <a:extLst>
              <a:ext uri="{FF2B5EF4-FFF2-40B4-BE49-F238E27FC236}">
                <a16:creationId xmlns:a16="http://schemas.microsoft.com/office/drawing/2014/main" id="{B951DEB0-CADF-49C1-A5C2-510B235F7B4F}"/>
              </a:ext>
            </a:extLst>
          </p:cNvPr>
          <p:cNvSpPr txBox="1">
            <a:spLocks/>
          </p:cNvSpPr>
          <p:nvPr/>
        </p:nvSpPr>
        <p:spPr>
          <a:xfrm>
            <a:off x="5745907" y="5706893"/>
            <a:ext cx="5470825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 b="0" i="0" u="none" strike="noStrike" cap="none" baseline="0">
                <a:solidFill>
                  <a:srgbClr val="262626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0"/>
              </a:spcBef>
              <a:buClr>
                <a:srgbClr val="888888"/>
              </a:buClr>
              <a:buSzPts val="1600"/>
              <a:buFont typeface="Noto Sans Symbols"/>
              <a:buNone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Попарные графики рассеяния для Модуля упругости при растяжении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38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Линейная регрессия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14D71539-1CB0-4ECC-8E1A-BF411BB78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038428"/>
              </p:ext>
            </p:extLst>
          </p:nvPr>
        </p:nvGraphicFramePr>
        <p:xfrm>
          <a:off x="756000" y="1183994"/>
          <a:ext cx="10824378" cy="5318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7491">
                  <a:extLst>
                    <a:ext uri="{9D8B030D-6E8A-4147-A177-3AD203B41FA5}">
                      <a16:colId xmlns:a16="http://schemas.microsoft.com/office/drawing/2014/main" val="691777326"/>
                    </a:ext>
                  </a:extLst>
                </a:gridCol>
                <a:gridCol w="1073984">
                  <a:extLst>
                    <a:ext uri="{9D8B030D-6E8A-4147-A177-3AD203B41FA5}">
                      <a16:colId xmlns:a16="http://schemas.microsoft.com/office/drawing/2014/main" val="2070657144"/>
                    </a:ext>
                  </a:extLst>
                </a:gridCol>
                <a:gridCol w="1042083">
                  <a:extLst>
                    <a:ext uri="{9D8B030D-6E8A-4147-A177-3AD203B41FA5}">
                      <a16:colId xmlns:a16="http://schemas.microsoft.com/office/drawing/2014/main" val="1172135368"/>
                    </a:ext>
                  </a:extLst>
                </a:gridCol>
                <a:gridCol w="1318555">
                  <a:extLst>
                    <a:ext uri="{9D8B030D-6E8A-4147-A177-3AD203B41FA5}">
                      <a16:colId xmlns:a16="http://schemas.microsoft.com/office/drawing/2014/main" val="4128128506"/>
                    </a:ext>
                  </a:extLst>
                </a:gridCol>
                <a:gridCol w="1106333">
                  <a:extLst>
                    <a:ext uri="{9D8B030D-6E8A-4147-A177-3AD203B41FA5}">
                      <a16:colId xmlns:a16="http://schemas.microsoft.com/office/drawing/2014/main" val="1753005983"/>
                    </a:ext>
                  </a:extLst>
                </a:gridCol>
                <a:gridCol w="945932">
                  <a:extLst>
                    <a:ext uri="{9D8B030D-6E8A-4147-A177-3AD203B41FA5}">
                      <a16:colId xmlns:a16="http://schemas.microsoft.com/office/drawing/2014/main" val="2289179052"/>
                    </a:ext>
                  </a:extLst>
                </a:gridCol>
              </a:tblGrid>
              <a:tr h="447720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14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711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711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711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711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3711" marT="0" marB="0"/>
                </a:tc>
                <a:extLst>
                  <a:ext uri="{0D108BD9-81ED-4DB2-BD59-A6C34878D82A}">
                    <a16:rowId xmlns:a16="http://schemas.microsoft.com/office/drawing/2014/main" val="2125586431"/>
                  </a:ext>
                </a:extLst>
              </a:tr>
              <a:tr h="320016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extLst>
                  <a:ext uri="{0D108BD9-81ED-4DB2-BD59-A6C34878D82A}">
                    <a16:rowId xmlns:a16="http://schemas.microsoft.com/office/drawing/2014/main" val="1651955058"/>
                  </a:ext>
                </a:extLst>
              </a:tr>
              <a:tr h="678355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2,268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0,031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2,86</a:t>
                      </a:r>
                      <a:endParaRPr lang="ru-RU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-0,023</a:t>
                      </a:r>
                      <a:endParaRPr lang="ru-RU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2599067737"/>
                  </a:ext>
                </a:extLst>
              </a:tr>
              <a:tr h="75853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Нормализованный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0,032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0,18</a:t>
                      </a:r>
                      <a:endParaRPr lang="ru-RU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-0,023</a:t>
                      </a:r>
                      <a:endParaRPr lang="ru-RU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2642608887"/>
                  </a:ext>
                </a:extLst>
              </a:tr>
              <a:tr h="678355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признаками на основе тепловой карты корреляции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2,235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8,00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2,83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0,001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3467019528"/>
                  </a:ext>
                </a:extLst>
              </a:tr>
              <a:tr h="678355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признаками на основе коэффициентов 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2,267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0,031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8,23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-0,028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2758046473"/>
                  </a:ext>
                </a:extLst>
              </a:tr>
              <a:tr h="320016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Прочность при растяжении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extLst>
                  <a:ext uri="{0D108BD9-81ED-4DB2-BD59-A6C34878D82A}">
                    <a16:rowId xmlns:a16="http://schemas.microsoft.com/office/drawing/2014/main" val="852919631"/>
                  </a:ext>
                </a:extLst>
              </a:tr>
              <a:tr h="678355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391,23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0,17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238112,7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487,97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2801990160"/>
                  </a:ext>
                </a:extLst>
              </a:tr>
              <a:tr h="75853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Нормализованный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0,159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0,58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0,039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0,198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-0,024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11" marR="53711" marT="0" marB="0" anchor="ctr"/>
                </a:tc>
                <a:extLst>
                  <a:ext uri="{0D108BD9-81ED-4DB2-BD59-A6C34878D82A}">
                    <a16:rowId xmlns:a16="http://schemas.microsoft.com/office/drawing/2014/main" val="2866893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5067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KNN-</a:t>
              </a:r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регрессия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3150A2C-A006-4215-BFCA-23F7F1827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77588"/>
              </p:ext>
            </p:extLst>
          </p:nvPr>
        </p:nvGraphicFramePr>
        <p:xfrm>
          <a:off x="525517" y="1547368"/>
          <a:ext cx="11014842" cy="3809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92414">
                  <a:extLst>
                    <a:ext uri="{9D8B030D-6E8A-4147-A177-3AD203B41FA5}">
                      <a16:colId xmlns:a16="http://schemas.microsoft.com/office/drawing/2014/main" val="1039016519"/>
                    </a:ext>
                  </a:extLst>
                </a:gridCol>
                <a:gridCol w="1240628">
                  <a:extLst>
                    <a:ext uri="{9D8B030D-6E8A-4147-A177-3AD203B41FA5}">
                      <a16:colId xmlns:a16="http://schemas.microsoft.com/office/drawing/2014/main" val="4051089173"/>
                    </a:ext>
                  </a:extLst>
                </a:gridCol>
                <a:gridCol w="1229303">
                  <a:extLst>
                    <a:ext uri="{9D8B030D-6E8A-4147-A177-3AD203B41FA5}">
                      <a16:colId xmlns:a16="http://schemas.microsoft.com/office/drawing/2014/main" val="3819461385"/>
                    </a:ext>
                  </a:extLst>
                </a:gridCol>
                <a:gridCol w="1303283">
                  <a:extLst>
                    <a:ext uri="{9D8B030D-6E8A-4147-A177-3AD203B41FA5}">
                      <a16:colId xmlns:a16="http://schemas.microsoft.com/office/drawing/2014/main" val="3870256608"/>
                    </a:ext>
                  </a:extLst>
                </a:gridCol>
                <a:gridCol w="1103586">
                  <a:extLst>
                    <a:ext uri="{9D8B030D-6E8A-4147-A177-3AD203B41FA5}">
                      <a16:colId xmlns:a16="http://schemas.microsoft.com/office/drawing/2014/main" val="2349138533"/>
                    </a:ext>
                  </a:extLst>
                </a:gridCol>
                <a:gridCol w="1145628">
                  <a:extLst>
                    <a:ext uri="{9D8B030D-6E8A-4147-A177-3AD203B41FA5}">
                      <a16:colId xmlns:a16="http://schemas.microsoft.com/office/drawing/2014/main" val="1456102284"/>
                    </a:ext>
                  </a:extLst>
                </a:gridCol>
              </a:tblGrid>
              <a:tr h="463352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MAPE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MSE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RMSE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R2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2525367851"/>
                  </a:ext>
                </a:extLst>
              </a:tr>
              <a:tr h="319378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376146"/>
                  </a:ext>
                </a:extLst>
              </a:tr>
              <a:tr h="676908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10,72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6522521"/>
                  </a:ext>
                </a:extLst>
              </a:tr>
              <a:tr h="676908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Нормализованный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0,17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-0,132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1565262"/>
                  </a:ext>
                </a:extLst>
              </a:tr>
              <a:tr h="676908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признаками на основе тепловой карты корреляции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2,453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9,82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-0,226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2587041"/>
                  </a:ext>
                </a:extLst>
              </a:tr>
              <a:tr h="319378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Прочность при растяжении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321620"/>
                  </a:ext>
                </a:extLst>
              </a:tr>
              <a:tr h="676908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,21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0,18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265670,5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515,43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4309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837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6343982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Дерево решений, Градиентный </a:t>
              </a:r>
              <a:r>
                <a:rPr lang="ru-RU" sz="2800" spc="180" dirty="0" err="1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бустинг</a:t>
              </a:r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Случайный лес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347BF5B-3638-49CE-8644-4F84E3BE8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810904"/>
              </p:ext>
            </p:extLst>
          </p:nvPr>
        </p:nvGraphicFramePr>
        <p:xfrm>
          <a:off x="490863" y="1369895"/>
          <a:ext cx="11382704" cy="50808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38906">
                  <a:extLst>
                    <a:ext uri="{9D8B030D-6E8A-4147-A177-3AD203B41FA5}">
                      <a16:colId xmlns:a16="http://schemas.microsoft.com/office/drawing/2014/main" val="2442341803"/>
                    </a:ext>
                  </a:extLst>
                </a:gridCol>
                <a:gridCol w="1102301">
                  <a:extLst>
                    <a:ext uri="{9D8B030D-6E8A-4147-A177-3AD203B41FA5}">
                      <a16:colId xmlns:a16="http://schemas.microsoft.com/office/drawing/2014/main" val="3270157387"/>
                    </a:ext>
                  </a:extLst>
                </a:gridCol>
                <a:gridCol w="1102301">
                  <a:extLst>
                    <a:ext uri="{9D8B030D-6E8A-4147-A177-3AD203B41FA5}">
                      <a16:colId xmlns:a16="http://schemas.microsoft.com/office/drawing/2014/main" val="2388870006"/>
                    </a:ext>
                  </a:extLst>
                </a:gridCol>
                <a:gridCol w="1288305">
                  <a:extLst>
                    <a:ext uri="{9D8B030D-6E8A-4147-A177-3AD203B41FA5}">
                      <a16:colId xmlns:a16="http://schemas.microsoft.com/office/drawing/2014/main" val="3218099338"/>
                    </a:ext>
                  </a:extLst>
                </a:gridCol>
                <a:gridCol w="1145627">
                  <a:extLst>
                    <a:ext uri="{9D8B030D-6E8A-4147-A177-3AD203B41FA5}">
                      <a16:colId xmlns:a16="http://schemas.microsoft.com/office/drawing/2014/main" val="3617362428"/>
                    </a:ext>
                  </a:extLst>
                </a:gridCol>
                <a:gridCol w="1405264">
                  <a:extLst>
                    <a:ext uri="{9D8B030D-6E8A-4147-A177-3AD203B41FA5}">
                      <a16:colId xmlns:a16="http://schemas.microsoft.com/office/drawing/2014/main" val="1759339860"/>
                    </a:ext>
                  </a:extLst>
                </a:gridCol>
              </a:tblGrid>
              <a:tr h="490436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1209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1209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1209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1209" marT="0" marB="0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5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6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51209" marT="0" marB="0"/>
                </a:tc>
                <a:extLst>
                  <a:ext uri="{0D108BD9-81ED-4DB2-BD59-A6C34878D82A}">
                    <a16:rowId xmlns:a16="http://schemas.microsoft.com/office/drawing/2014/main" val="3162284548"/>
                  </a:ext>
                </a:extLst>
              </a:tr>
              <a:tr h="273469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/>
                </a:tc>
                <a:extLst>
                  <a:ext uri="{0D108BD9-81ED-4DB2-BD59-A6C34878D82A}">
                    <a16:rowId xmlns:a16="http://schemas.microsoft.com/office/drawing/2014/main" val="14383282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</a:p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9,8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-0,227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extLst>
                  <a:ext uri="{0D108BD9-81ED-4DB2-BD59-A6C34878D82A}">
                    <a16:rowId xmlns:a16="http://schemas.microsoft.com/office/drawing/2014/main" val="3512461691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9,01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3,0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extLst>
                  <a:ext uri="{0D108BD9-81ED-4DB2-BD59-A6C34878D82A}">
                    <a16:rowId xmlns:a16="http://schemas.microsoft.com/office/drawing/2014/main" val="176997437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Нормализованный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-0,12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extLst>
                  <a:ext uri="{0D108BD9-81ED-4DB2-BD59-A6C34878D82A}">
                    <a16:rowId xmlns:a16="http://schemas.microsoft.com/office/drawing/2014/main" val="261742688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</a:p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 признаками на основе тепловой карты корреляции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8,38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extLst>
                  <a:ext uri="{0D108BD9-81ED-4DB2-BD59-A6C34878D82A}">
                    <a16:rowId xmlns:a16="http://schemas.microsoft.com/office/drawing/2014/main" val="2615853129"/>
                  </a:ext>
                </a:extLst>
              </a:tr>
              <a:tr h="36000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Прочность при растяжении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140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916604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</a:p>
                    <a:p>
                      <a:pPr indent="444500" algn="r">
                        <a:lnSpc>
                          <a:spcPct val="114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Исходный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датасет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полученный путем удаления всех одномерных выбросов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420,26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281805,9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530,85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-0,212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209" marR="51209" marT="0" marB="0" anchor="ctr"/>
                </a:tc>
                <a:extLst>
                  <a:ext uri="{0D108BD9-81ED-4DB2-BD59-A6C34878D82A}">
                    <a16:rowId xmlns:a16="http://schemas.microsoft.com/office/drawing/2014/main" val="252383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102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Кластеризация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FB1B9DDD-895F-45F7-A69D-A8F668CA1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8" y="1545021"/>
            <a:ext cx="4528839" cy="3426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8E3B366-5FDD-4713-A84F-999FDBFB4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70795"/>
              </p:ext>
            </p:extLst>
          </p:nvPr>
        </p:nvGraphicFramePr>
        <p:xfrm>
          <a:off x="4908332" y="1545020"/>
          <a:ext cx="7103797" cy="36260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9309">
                  <a:extLst>
                    <a:ext uri="{9D8B030D-6E8A-4147-A177-3AD203B41FA5}">
                      <a16:colId xmlns:a16="http://schemas.microsoft.com/office/drawing/2014/main" val="2152420405"/>
                    </a:ext>
                  </a:extLst>
                </a:gridCol>
                <a:gridCol w="977462">
                  <a:extLst>
                    <a:ext uri="{9D8B030D-6E8A-4147-A177-3AD203B41FA5}">
                      <a16:colId xmlns:a16="http://schemas.microsoft.com/office/drawing/2014/main" val="1039586247"/>
                    </a:ext>
                  </a:extLst>
                </a:gridCol>
                <a:gridCol w="1114097">
                  <a:extLst>
                    <a:ext uri="{9D8B030D-6E8A-4147-A177-3AD203B41FA5}">
                      <a16:colId xmlns:a16="http://schemas.microsoft.com/office/drawing/2014/main" val="3220002614"/>
                    </a:ext>
                  </a:extLst>
                </a:gridCol>
                <a:gridCol w="1008993">
                  <a:extLst>
                    <a:ext uri="{9D8B030D-6E8A-4147-A177-3AD203B41FA5}">
                      <a16:colId xmlns:a16="http://schemas.microsoft.com/office/drawing/2014/main" val="949604378"/>
                    </a:ext>
                  </a:extLst>
                </a:gridCol>
                <a:gridCol w="1072055">
                  <a:extLst>
                    <a:ext uri="{9D8B030D-6E8A-4147-A177-3AD203B41FA5}">
                      <a16:colId xmlns:a16="http://schemas.microsoft.com/office/drawing/2014/main" val="85162908"/>
                    </a:ext>
                  </a:extLst>
                </a:gridCol>
                <a:gridCol w="1091881">
                  <a:extLst>
                    <a:ext uri="{9D8B030D-6E8A-4147-A177-3AD203B41FA5}">
                      <a16:colId xmlns:a16="http://schemas.microsoft.com/office/drawing/2014/main" val="3266406967"/>
                    </a:ext>
                  </a:extLst>
                </a:gridCol>
              </a:tblGrid>
              <a:tr h="810871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9405630"/>
                  </a:ext>
                </a:extLst>
              </a:tr>
              <a:tr h="382584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62210"/>
                  </a:ext>
                </a:extLst>
              </a:tr>
              <a:tr h="810871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-0,05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2915857056"/>
                  </a:ext>
                </a:extLst>
              </a:tr>
              <a:tr h="810871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-0,04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942890681"/>
                  </a:ext>
                </a:extLst>
              </a:tr>
              <a:tr h="810871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0,42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-0,114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320931774"/>
                  </a:ext>
                </a:extLst>
              </a:tr>
            </a:tbl>
          </a:graphicData>
        </a:graphic>
      </p:graphicFrame>
      <p:sp>
        <p:nvSpPr>
          <p:cNvPr id="14" name="Google Shape;210;p9">
            <a:extLst>
              <a:ext uri="{FF2B5EF4-FFF2-40B4-BE49-F238E27FC236}">
                <a16:creationId xmlns:a16="http://schemas.microsoft.com/office/drawing/2014/main" id="{67376DE9-C4BF-4F01-A5BF-44FFD4420D06}"/>
              </a:ext>
            </a:extLst>
          </p:cNvPr>
          <p:cNvSpPr txBox="1">
            <a:spLocks/>
          </p:cNvSpPr>
          <p:nvPr/>
        </p:nvSpPr>
        <p:spPr>
          <a:xfrm>
            <a:off x="200058" y="5312979"/>
            <a:ext cx="4528839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300" b="0" i="0" u="none" strike="noStrike" cap="none" baseline="0">
                <a:solidFill>
                  <a:srgbClr val="000000"/>
                </a:solidFill>
                <a:latin typeface="+mn-lt"/>
                <a:ea typeface="ALS Sector Regular" panose="02000000000000000000" pitchFamily="2" charset="0"/>
                <a:cs typeface="ALS Sector Regular" panose="020000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lnSpc>
                <a:spcPct val="90000"/>
              </a:lnSpc>
              <a:buClr>
                <a:srgbClr val="888888"/>
              </a:buClr>
              <a:buSzPts val="1600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«локтя» для определения количества кластеров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34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Уменьшение размерности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4" name="Google Shape;210;p9">
            <a:extLst>
              <a:ext uri="{FF2B5EF4-FFF2-40B4-BE49-F238E27FC236}">
                <a16:creationId xmlns:a16="http://schemas.microsoft.com/office/drawing/2014/main" id="{67376DE9-C4BF-4F01-A5BF-44FFD4420D06}"/>
              </a:ext>
            </a:extLst>
          </p:cNvPr>
          <p:cNvSpPr txBox="1">
            <a:spLocks/>
          </p:cNvSpPr>
          <p:nvPr/>
        </p:nvSpPr>
        <p:spPr>
          <a:xfrm>
            <a:off x="119392" y="5921474"/>
            <a:ext cx="4079072" cy="67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300" b="0" i="0" u="none" strike="noStrike" cap="none" baseline="0">
                <a:solidFill>
                  <a:srgbClr val="000000"/>
                </a:solidFill>
                <a:latin typeface="+mn-lt"/>
                <a:ea typeface="ALS Sector Regular" panose="02000000000000000000" pitchFamily="2" charset="0"/>
                <a:cs typeface="ALS Sector Regular" panose="020000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lnSpc>
                <a:spcPct val="90000"/>
              </a:lnSpc>
              <a:buClr>
                <a:srgbClr val="888888"/>
              </a:buClr>
              <a:buSzPts val="1600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4 признаками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31901D-E5A4-4826-8093-4AA94D03F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8" y="1355833"/>
            <a:ext cx="4079072" cy="4565641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9C66DC5-E488-4810-88F9-44217E140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865617"/>
              </p:ext>
            </p:extLst>
          </p:nvPr>
        </p:nvGraphicFramePr>
        <p:xfrm>
          <a:off x="4718355" y="1686845"/>
          <a:ext cx="7315990" cy="35578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9383">
                  <a:extLst>
                    <a:ext uri="{9D8B030D-6E8A-4147-A177-3AD203B41FA5}">
                      <a16:colId xmlns:a16="http://schemas.microsoft.com/office/drawing/2014/main" val="1165655549"/>
                    </a:ext>
                  </a:extLst>
                </a:gridCol>
                <a:gridCol w="1114096">
                  <a:extLst>
                    <a:ext uri="{9D8B030D-6E8A-4147-A177-3AD203B41FA5}">
                      <a16:colId xmlns:a16="http://schemas.microsoft.com/office/drawing/2014/main" val="970082711"/>
                    </a:ext>
                  </a:extLst>
                </a:gridCol>
                <a:gridCol w="1145628">
                  <a:extLst>
                    <a:ext uri="{9D8B030D-6E8A-4147-A177-3AD203B41FA5}">
                      <a16:colId xmlns:a16="http://schemas.microsoft.com/office/drawing/2014/main" val="2297741975"/>
                    </a:ext>
                  </a:extLst>
                </a:gridCol>
                <a:gridCol w="977462">
                  <a:extLst>
                    <a:ext uri="{9D8B030D-6E8A-4147-A177-3AD203B41FA5}">
                      <a16:colId xmlns:a16="http://schemas.microsoft.com/office/drawing/2014/main" val="1827835700"/>
                    </a:ext>
                  </a:extLst>
                </a:gridCol>
                <a:gridCol w="1187669">
                  <a:extLst>
                    <a:ext uri="{9D8B030D-6E8A-4147-A177-3AD203B41FA5}">
                      <a16:colId xmlns:a16="http://schemas.microsoft.com/office/drawing/2014/main" val="2613376979"/>
                    </a:ext>
                  </a:extLst>
                </a:gridCol>
                <a:gridCol w="1271752">
                  <a:extLst>
                    <a:ext uri="{9D8B030D-6E8A-4147-A177-3AD203B41FA5}">
                      <a16:colId xmlns:a16="http://schemas.microsoft.com/office/drawing/2014/main" val="3476333316"/>
                    </a:ext>
                  </a:extLst>
                </a:gridCol>
              </a:tblGrid>
              <a:tr h="795609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5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/>
                </a:tc>
                <a:extLst>
                  <a:ext uri="{0D108BD9-81ED-4DB2-BD59-A6C34878D82A}">
                    <a16:rowId xmlns:a16="http://schemas.microsoft.com/office/drawing/2014/main" val="458559581"/>
                  </a:ext>
                </a:extLst>
              </a:tr>
              <a:tr h="375383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716260"/>
                  </a:ext>
                </a:extLst>
              </a:tr>
              <a:tr h="795609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0,79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-0,008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810573"/>
                  </a:ext>
                </a:extLst>
              </a:tr>
              <a:tr h="795609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1,87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1,06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11216395"/>
                  </a:ext>
                </a:extLst>
              </a:tr>
              <a:tr h="795609">
                <a:tc>
                  <a:txBody>
                    <a:bodyPr/>
                    <a:lstStyle/>
                    <a:p>
                      <a:pPr indent="444500" algn="r">
                        <a:lnSpc>
                          <a:spcPct val="15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0,81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1,05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1,03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-0,09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6718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6534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«Ручной» анализ данных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sp>
        <p:nvSpPr>
          <p:cNvPr id="14" name="Google Shape;210;p9">
            <a:extLst>
              <a:ext uri="{FF2B5EF4-FFF2-40B4-BE49-F238E27FC236}">
                <a16:creationId xmlns:a16="http://schemas.microsoft.com/office/drawing/2014/main" id="{67376DE9-C4BF-4F01-A5BF-44FFD4420D06}"/>
              </a:ext>
            </a:extLst>
          </p:cNvPr>
          <p:cNvSpPr txBox="1">
            <a:spLocks/>
          </p:cNvSpPr>
          <p:nvPr/>
        </p:nvSpPr>
        <p:spPr>
          <a:xfrm>
            <a:off x="34571" y="5039175"/>
            <a:ext cx="4528839" cy="79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300" b="0" i="0" u="none" strike="noStrike" cap="none" baseline="0">
                <a:solidFill>
                  <a:srgbClr val="000000"/>
                </a:solidFill>
                <a:latin typeface="+mn-lt"/>
                <a:ea typeface="ALS Sector Regular" panose="02000000000000000000" pitchFamily="2" charset="0"/>
                <a:cs typeface="ALS Sector Regular" panose="020000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lnSpc>
                <a:spcPct val="90000"/>
              </a:lnSpc>
              <a:buClr>
                <a:srgbClr val="888888"/>
              </a:buClr>
              <a:buSzPts val="1600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Тепловая карта корреляции для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 первых 23 строк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C04FD41-42FC-4999-8900-ACBAB57B929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28" y="1421176"/>
            <a:ext cx="4050726" cy="3600947"/>
          </a:xfrm>
          <a:prstGeom prst="rect">
            <a:avLst/>
          </a:prstGeom>
          <a:noFill/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915A09A-4A6B-46EE-94F9-0D9C8E572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778540"/>
              </p:ext>
            </p:extLst>
          </p:nvPr>
        </p:nvGraphicFramePr>
        <p:xfrm>
          <a:off x="4563410" y="1227479"/>
          <a:ext cx="7582078" cy="558700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401677">
                  <a:extLst>
                    <a:ext uri="{9D8B030D-6E8A-4147-A177-3AD203B41FA5}">
                      <a16:colId xmlns:a16="http://schemas.microsoft.com/office/drawing/2014/main" val="4274421302"/>
                    </a:ext>
                  </a:extLst>
                </a:gridCol>
                <a:gridCol w="1090670">
                  <a:extLst>
                    <a:ext uri="{9D8B030D-6E8A-4147-A177-3AD203B41FA5}">
                      <a16:colId xmlns:a16="http://schemas.microsoft.com/office/drawing/2014/main" val="4009422456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2861509479"/>
                    </a:ext>
                  </a:extLst>
                </a:gridCol>
                <a:gridCol w="1101687">
                  <a:extLst>
                    <a:ext uri="{9D8B030D-6E8A-4147-A177-3AD203B41FA5}">
                      <a16:colId xmlns:a16="http://schemas.microsoft.com/office/drawing/2014/main" val="2169127604"/>
                    </a:ext>
                  </a:extLst>
                </a:gridCol>
                <a:gridCol w="941749">
                  <a:extLst>
                    <a:ext uri="{9D8B030D-6E8A-4147-A177-3AD203B41FA5}">
                      <a16:colId xmlns:a16="http://schemas.microsoft.com/office/drawing/2014/main" val="3563044000"/>
                    </a:ext>
                  </a:extLst>
                </a:gridCol>
                <a:gridCol w="1065794">
                  <a:extLst>
                    <a:ext uri="{9D8B030D-6E8A-4147-A177-3AD203B41FA5}">
                      <a16:colId xmlns:a16="http://schemas.microsoft.com/office/drawing/2014/main" val="505509841"/>
                    </a:ext>
                  </a:extLst>
                </a:gridCol>
              </a:tblGrid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marR="0" indent="44450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MAE</a:t>
                      </a:r>
                      <a:endParaRPr lang="ru-RU" sz="12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MAPE</a:t>
                      </a:r>
                      <a:endParaRPr lang="ru-RU" sz="12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MSE</a:t>
                      </a:r>
                      <a:endParaRPr lang="ru-RU" sz="12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RMSE</a:t>
                      </a:r>
                      <a:endParaRPr lang="ru-RU" sz="12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R2</a:t>
                      </a:r>
                      <a:endParaRPr lang="ru-RU" dirty="0"/>
                    </a:p>
                  </a:txBody>
                  <a:tcPr marL="39600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511293"/>
                  </a:ext>
                </a:extLst>
              </a:tr>
              <a:tr h="207767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extLst>
                  <a:ext uri="{0D108BD9-81ED-4DB2-BD59-A6C34878D82A}">
                    <a16:rowId xmlns:a16="http://schemas.microsoft.com/office/drawing/2014/main" val="4283563729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5367130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3,44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1,86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0,64</a:t>
                      </a:r>
                      <a:endParaRPr lang="ru-RU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0436679"/>
                  </a:ext>
                </a:extLst>
              </a:tr>
              <a:tr h="41553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Нормализация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</a:t>
                      </a:r>
                      <a:endParaRPr lang="ru-RU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0577328"/>
                  </a:ext>
                </a:extLst>
              </a:tr>
              <a:tr h="41553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Гиперпараметры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0,87</a:t>
                      </a:r>
                      <a:endParaRPr lang="ru-RU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10516676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1881403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9681776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0,97</a:t>
                      </a:r>
                      <a:endParaRPr lang="ru-RU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324780"/>
                  </a:ext>
                </a:extLst>
              </a:tr>
              <a:tr h="207767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Прочность при растяжении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extLst>
                  <a:ext uri="{0D108BD9-81ED-4DB2-BD59-A6C34878D82A}">
                    <a16:rowId xmlns:a16="http://schemas.microsoft.com/office/drawing/2014/main" val="2107635874"/>
                  </a:ext>
                </a:extLst>
              </a:tr>
              <a:tr h="273521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1064048"/>
                  </a:ext>
                </a:extLst>
              </a:tr>
              <a:tr h="41900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251,9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146229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382,4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5265636"/>
                  </a:ext>
                </a:extLst>
              </a:tr>
              <a:tr h="41553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Нормализация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0,66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5913992"/>
                  </a:ext>
                </a:extLst>
              </a:tr>
              <a:tr h="41553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Гиперпараметры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1345843"/>
                  </a:ext>
                </a:extLst>
              </a:tr>
              <a:tr h="27436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3806859"/>
                  </a:ext>
                </a:extLst>
              </a:tr>
              <a:tr h="41900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1830,2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42,78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4210721"/>
                  </a:ext>
                </a:extLst>
              </a:tr>
              <a:tr h="41900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350" marR="3735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103,3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19172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138,47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815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041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Тестирование моделей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6082F3F-0447-4875-A4FD-3D0A177752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24886"/>
              </p:ext>
            </p:extLst>
          </p:nvPr>
        </p:nvGraphicFramePr>
        <p:xfrm>
          <a:off x="740479" y="1528311"/>
          <a:ext cx="11005851" cy="470751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4699457">
                  <a:extLst>
                    <a:ext uri="{9D8B030D-6E8A-4147-A177-3AD203B41FA5}">
                      <a16:colId xmlns:a16="http://schemas.microsoft.com/office/drawing/2014/main" val="288916028"/>
                    </a:ext>
                  </a:extLst>
                </a:gridCol>
                <a:gridCol w="1528498">
                  <a:extLst>
                    <a:ext uri="{9D8B030D-6E8A-4147-A177-3AD203B41FA5}">
                      <a16:colId xmlns:a16="http://schemas.microsoft.com/office/drawing/2014/main" val="2296835727"/>
                    </a:ext>
                  </a:extLst>
                </a:gridCol>
                <a:gridCol w="1333350">
                  <a:extLst>
                    <a:ext uri="{9D8B030D-6E8A-4147-A177-3AD203B41FA5}">
                      <a16:colId xmlns:a16="http://schemas.microsoft.com/office/drawing/2014/main" val="776404476"/>
                    </a:ext>
                  </a:extLst>
                </a:gridCol>
                <a:gridCol w="1340325">
                  <a:extLst>
                    <a:ext uri="{9D8B030D-6E8A-4147-A177-3AD203B41FA5}">
                      <a16:colId xmlns:a16="http://schemas.microsoft.com/office/drawing/2014/main" val="1739929654"/>
                    </a:ext>
                  </a:extLst>
                </a:gridCol>
                <a:gridCol w="1105848">
                  <a:extLst>
                    <a:ext uri="{9D8B030D-6E8A-4147-A177-3AD203B41FA5}">
                      <a16:colId xmlns:a16="http://schemas.microsoft.com/office/drawing/2014/main" val="1826060499"/>
                    </a:ext>
                  </a:extLst>
                </a:gridCol>
                <a:gridCol w="998373">
                  <a:extLst>
                    <a:ext uri="{9D8B030D-6E8A-4147-A177-3AD203B41FA5}">
                      <a16:colId xmlns:a16="http://schemas.microsoft.com/office/drawing/2014/main" val="1439895083"/>
                    </a:ext>
                  </a:extLst>
                </a:gridCol>
              </a:tblGrid>
              <a:tr h="406707"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MAE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MAPE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MSE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4445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RMSE</a:t>
                      </a:r>
                      <a:endParaRPr lang="ru-RU" sz="1400" b="1" i="0" u="none" strike="noStrike" cap="non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R2</a:t>
                      </a:r>
                      <a:endParaRPr lang="ru-RU" dirty="0"/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295871"/>
                  </a:ext>
                </a:extLst>
              </a:tr>
              <a:tr h="291072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Модуль упругости при растяжении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extLst>
                  <a:ext uri="{0D108BD9-81ED-4DB2-BD59-A6C34878D82A}">
                    <a16:rowId xmlns:a16="http://schemas.microsoft.com/office/drawing/2014/main" val="4151299150"/>
                  </a:ext>
                </a:extLst>
              </a:tr>
              <a:tr h="362707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-1,64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5551043"/>
                  </a:ext>
                </a:extLst>
              </a:tr>
              <a:tr h="3305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Нормализация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0,39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-4,37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9162336"/>
                  </a:ext>
                </a:extLst>
              </a:tr>
              <a:tr h="363557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-0,79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7278190"/>
                  </a:ext>
                </a:extLst>
              </a:tr>
              <a:tr h="341523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-0,66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2747616"/>
                  </a:ext>
                </a:extLst>
              </a:tr>
              <a:tr h="341523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3,92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-0,58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3981072"/>
                  </a:ext>
                </a:extLst>
              </a:tr>
              <a:tr h="330506">
                <a:tc gridSpan="6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Прочность при растяжении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extLst>
                  <a:ext uri="{0D108BD9-81ED-4DB2-BD59-A6C34878D82A}">
                    <a16:rowId xmlns:a16="http://schemas.microsoft.com/office/drawing/2014/main" val="1217509765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Линейная регрессия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729,18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832440,2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912,38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-2,53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328483"/>
                  </a:ext>
                </a:extLst>
              </a:tr>
              <a:tr h="374574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KNN-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регрессия. Нормализация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0,15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-4,06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7464543"/>
                  </a:ext>
                </a:extLst>
              </a:tr>
              <a:tr h="3305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Дерево решений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525,92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425619,3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652,4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-0,81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02914563"/>
                  </a:ext>
                </a:extLst>
              </a:tr>
              <a:tr h="385590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Градиентный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бустинг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509,9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399590,1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632,13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2986112"/>
                  </a:ext>
                </a:extLst>
              </a:tr>
              <a:tr h="474172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Случайный лес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0" marB="0"/>
                </a:tc>
                <a:tc>
                  <a:txBody>
                    <a:bodyPr/>
                    <a:lstStyle/>
                    <a:p>
                      <a:pPr indent="444500" algn="just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505,94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394156,2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627,8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-0,67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12511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809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Тестирование моделей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A0B85B-8E52-4E35-8448-7468BF48DD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1933" y="1135293"/>
            <a:ext cx="3347249" cy="27318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04D9C8-5D13-4E88-8A1D-578B31A42AE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89353" y="1206971"/>
            <a:ext cx="3611095" cy="268700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116B53E-C8D2-4036-8903-FF93760B609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72819" y="1180119"/>
            <a:ext cx="3347248" cy="268700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605EFAF-7712-4105-B744-709CAAC59C4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465966" y="4078946"/>
            <a:ext cx="3347249" cy="268700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85B23E2-EB70-4B2B-BAD4-F99D1236DD0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92435" y="4022300"/>
            <a:ext cx="3611095" cy="268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3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Нейронная сеть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B1E8BF4-7652-4C94-990D-56972F38BE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9794" y="1448905"/>
            <a:ext cx="5569096" cy="240359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290F0D5-268A-4607-8E0A-9EA1984394B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03112" y="1371787"/>
            <a:ext cx="5514162" cy="27305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A6E0CDA-5ACE-4EC4-828E-80673B45DD1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19794" y="3852495"/>
            <a:ext cx="5418324" cy="253621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4A9E9F2-CAC7-4921-9C7B-E89AB90A4F7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458044" y="3852495"/>
            <a:ext cx="5514162" cy="247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23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Нейронная сеть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2A3E2024-FE6B-4FC4-A25A-1913EED76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812611"/>
              </p:ext>
            </p:extLst>
          </p:nvPr>
        </p:nvGraphicFramePr>
        <p:xfrm>
          <a:off x="121186" y="1498295"/>
          <a:ext cx="7951613" cy="480335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577947">
                  <a:extLst>
                    <a:ext uri="{9D8B030D-6E8A-4147-A177-3AD203B41FA5}">
                      <a16:colId xmlns:a16="http://schemas.microsoft.com/office/drawing/2014/main" val="1124677632"/>
                    </a:ext>
                  </a:extLst>
                </a:gridCol>
                <a:gridCol w="980501">
                  <a:extLst>
                    <a:ext uri="{9D8B030D-6E8A-4147-A177-3AD203B41FA5}">
                      <a16:colId xmlns:a16="http://schemas.microsoft.com/office/drawing/2014/main" val="560357220"/>
                    </a:ext>
                  </a:extLst>
                </a:gridCol>
                <a:gridCol w="1123720">
                  <a:extLst>
                    <a:ext uri="{9D8B030D-6E8A-4147-A177-3AD203B41FA5}">
                      <a16:colId xmlns:a16="http://schemas.microsoft.com/office/drawing/2014/main" val="2822769161"/>
                    </a:ext>
                  </a:extLst>
                </a:gridCol>
                <a:gridCol w="1002535">
                  <a:extLst>
                    <a:ext uri="{9D8B030D-6E8A-4147-A177-3AD203B41FA5}">
                      <a16:colId xmlns:a16="http://schemas.microsoft.com/office/drawing/2014/main" val="314575758"/>
                    </a:ext>
                  </a:extLst>
                </a:gridCol>
                <a:gridCol w="1123721">
                  <a:extLst>
                    <a:ext uri="{9D8B030D-6E8A-4147-A177-3AD203B41FA5}">
                      <a16:colId xmlns:a16="http://schemas.microsoft.com/office/drawing/2014/main" val="3244242039"/>
                    </a:ext>
                  </a:extLst>
                </a:gridCol>
                <a:gridCol w="1143189">
                  <a:extLst>
                    <a:ext uri="{9D8B030D-6E8A-4147-A177-3AD203B41FA5}">
                      <a16:colId xmlns:a16="http://schemas.microsoft.com/office/drawing/2014/main" val="3764130791"/>
                    </a:ext>
                  </a:extLst>
                </a:gridCol>
              </a:tblGrid>
              <a:tr h="533706"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444500" algn="l">
                        <a:lnSpc>
                          <a:spcPct val="100000"/>
                        </a:lnSpc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1400" b="1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499443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слой, 32 нейрона,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976994018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слоя, 64 и 32 нейрона,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adam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-0,35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1313611889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слой, 32 нейрона,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,1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867206760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слоя, 32 и 16 нейронов,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SGD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-0,04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643048535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loo,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признаков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704943473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loo,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признаков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0,78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-0,29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1297028506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loo,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признаков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-0,24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3158490983"/>
                  </a:ext>
                </a:extLst>
              </a:tr>
              <a:tr h="533706">
                <a:tc>
                  <a:txBody>
                    <a:bodyPr/>
                    <a:lstStyle/>
                    <a:p>
                      <a:pPr indent="444500" algn="r">
                        <a:lnSpc>
                          <a:spcPct val="100000"/>
                        </a:lnSpc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train-23 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28, 6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6,57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2,56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tc>
                  <a:txBody>
                    <a:bodyPr/>
                    <a:lstStyle/>
                    <a:p>
                      <a:pPr indent="444500" algn="ctr">
                        <a:lnSpc>
                          <a:spcPct val="1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-84,8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68580" marT="0" marB="0" anchor="ctr"/>
                </a:tc>
                <a:extLst>
                  <a:ext uri="{0D108BD9-81ED-4DB2-BD59-A6C34878D82A}">
                    <a16:rowId xmlns:a16="http://schemas.microsoft.com/office/drawing/2014/main" val="406212090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A05B06-6E84-4E83-BCA3-6481E6C1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800" y="570685"/>
            <a:ext cx="3725658" cy="334192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B66766-BFAE-44B2-BD6C-5E9B1D6F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457" y="3694925"/>
            <a:ext cx="3824634" cy="31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02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BD7408-43B6-4862-BD1A-5C98F187C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C9DC557-5581-495D-BB23-B94ADFCDEF50}"/>
              </a:ext>
            </a:extLst>
          </p:cNvPr>
          <p:cNvGrpSpPr/>
          <p:nvPr/>
        </p:nvGrpSpPr>
        <p:grpSpPr>
          <a:xfrm>
            <a:off x="3167880" y="469293"/>
            <a:ext cx="3835398" cy="666000"/>
            <a:chOff x="1476753" y="3499669"/>
            <a:chExt cx="4619247" cy="6660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D70003C4-955E-467F-96F1-C68960CDA5F3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Разработка приложения</a:t>
              </a:r>
              <a:endParaRPr lang="ru-RU" sz="2800" spc="18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286A3B8D-B315-48AD-9EFB-F044CE30BB7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3" name="Прямоугольник 58">
              <a:extLst>
                <a:ext uri="{FF2B5EF4-FFF2-40B4-BE49-F238E27FC236}">
                  <a16:creationId xmlns:a16="http://schemas.microsoft.com/office/drawing/2014/main" id="{DF012F52-6F76-4D9F-8DB5-627F1CB1104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073A43-9C17-41FB-B0C6-6780753550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44187" y="1410158"/>
            <a:ext cx="5447386" cy="437369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FEC3B64-8635-4F6E-A698-80DE894862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1384619"/>
            <a:ext cx="5800913" cy="4283211"/>
          </a:xfrm>
          <a:prstGeom prst="rect">
            <a:avLst/>
          </a:prstGeom>
        </p:spPr>
      </p:pic>
      <p:sp>
        <p:nvSpPr>
          <p:cNvPr id="16" name="Google Shape;210;p9">
            <a:extLst>
              <a:ext uri="{FF2B5EF4-FFF2-40B4-BE49-F238E27FC236}">
                <a16:creationId xmlns:a16="http://schemas.microsoft.com/office/drawing/2014/main" id="{FE353D42-EE39-4E5D-AFE5-BBB0FEAED6BE}"/>
              </a:ext>
            </a:extLst>
          </p:cNvPr>
          <p:cNvSpPr txBox="1">
            <a:spLocks/>
          </p:cNvSpPr>
          <p:nvPr/>
        </p:nvSpPr>
        <p:spPr>
          <a:xfrm>
            <a:off x="1738870" y="5917156"/>
            <a:ext cx="8925457" cy="67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300" b="0" i="0" u="none" strike="noStrike" cap="none" baseline="0">
                <a:solidFill>
                  <a:srgbClr val="000000"/>
                </a:solidFill>
                <a:latin typeface="+mn-lt"/>
                <a:ea typeface="ALS Sector Regular" panose="02000000000000000000" pitchFamily="2" charset="0"/>
                <a:cs typeface="ALS Sector Regular" panose="020000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algn="ctr">
              <a:lnSpc>
                <a:spcPct val="90000"/>
              </a:lnSpc>
              <a:buClr>
                <a:srgbClr val="888888"/>
              </a:buClr>
              <a:buSzPts val="1600"/>
            </a:pPr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Интерфейс страницы приложения по расчету Модуля упругости при растяжении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20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2058</TotalTime>
  <Words>837</Words>
  <Application>Microsoft Office PowerPoint</Application>
  <PresentationFormat>Широкоэкранный</PresentationFormat>
  <Paragraphs>433</Paragraphs>
  <Slides>17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Open Sans</vt:lpstr>
      <vt:lpstr>ALS Sector Regular</vt:lpstr>
      <vt:lpstr>ALS Sector Bold</vt:lpstr>
      <vt:lpstr>Arial</vt:lpstr>
      <vt:lpstr>Times New Roman</vt:lpstr>
      <vt:lpstr>Noto Sans Symbols</vt:lpstr>
      <vt:lpstr>If,kjyVUNE_28012021</vt:lpstr>
      <vt:lpstr>ВЫПУСКНАЯ КВАЛИФИКАЦИОННАЯ РАБОТА  по курсу «Data Science Pro»  Прогнозирование конечных свойств новых материалов (композиционных материалов)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Александр</cp:lastModifiedBy>
  <cp:revision>106</cp:revision>
  <dcterms:created xsi:type="dcterms:W3CDTF">2021-02-24T09:03:25Z</dcterms:created>
  <dcterms:modified xsi:type="dcterms:W3CDTF">2026-02-13T13:01:46Z</dcterms:modified>
</cp:coreProperties>
</file>